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 type="screen16x9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ideView">
  <p:normalViewPr/>
  <p:slideViewPr>
    <p:cSldViewPr snapToGrid="1"/>
  </p:slideViewPr>
  <p:outlineViewPr/>
  <p:notesTextViewPr/>
  <p:gridSpacing cx="780288" cy="780288"/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  <Relationship Id="rId8" Type="http://schemas.openxmlformats.org/officeDocument/2006/relationships/slide" Target="slides/slide7.xml"/>
  <Relationship Id="rId9" Type="http://schemas.openxmlformats.org/officeDocument/2006/relationships/presProps" Target="presProps.xml"/>
  <Relationship Id="rId10" Type="http://schemas.openxmlformats.org/officeDocument/2006/relationships/viewProps" Target="viewProps.xml"/>
  <Relationship Id="rId11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mart DJ Boot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A"/>
          </a:solidFill>
          <a:ln>
            <a:noFill/>
          </a:ln>
        </p:spPr>
      </p:sp>
      <p:sp>
        <p:nvSpPr>
          <p:cNvPr id="3" name="Accent Bar"/>
          <p:cNvSpPr/>
          <p:nvPr/>
        </p:nvSpPr>
        <p:spPr>
          <a:xfrm>
            <a:off x="685800" y="609600"/>
            <a:ext cx="9144000" cy="228600"/>
          </a:xfrm>
          <a:prstGeom prst="rect">
            <a:avLst/>
          </a:prstGeom>
          <a:solidFill>
            <a:srgbClr val="D94F30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685800" y="1143000"/>
            <a:ext cx="10668000" cy="8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lvl="0"/>
            <a:r>
              <a:rPr lang="en-US" sz="3000" b="1"/>
              <a:t>Smart DJ Booth</a:t>
            </a:r>
            <a:endParaRPr lang="en-US" sz="3000"/>
          </a:p>
        </p:txBody>
      </p:sp>
      <p:sp>
        <p:nvSpPr>
          <p:cNvPr id="5" name="Subtitle"/>
          <p:cNvSpPr txBox="1"/>
          <p:nvPr/>
        </p:nvSpPr>
        <p:spPr>
          <a:xfrm>
            <a:off x="685800" y="1905000"/>
            <a:ext cx="10668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lvl="0"/>
            <a:r>
              <a:rPr lang="en-US" sz="1800"/>
              <a:t>Real-time DJ feedback powered by ESP32 crowd sensing and sound intelligence</a:t>
            </a:r>
            <a:endParaRPr lang="en-US" sz="1800"/>
          </a:p>
        </p:txBody>
      </p:sp>
      <p:sp>
        <p:nvSpPr>
          <p:cNvPr id="6" name="Body"/>
          <p:cNvSpPr txBox="1"/>
          <p:nvPr/>
        </p:nvSpPr>
        <p:spPr>
          <a:xfrm>
            <a:off x="914400" y="2667000"/>
            <a:ext cx="10058400" cy="274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lvl="0"/>
            <a:r>
              <a:rPr lang="en-US" sz="2000"/>
              <a:t>• A demo-first booth intelligence system for live event environments</a:t>
            </a:r>
            <a:endParaRPr lang="en-US" sz="2000"/>
          </a:p>
          <a:p>
            <a:pPr lvl="0"/>
            <a:r>
              <a:rPr lang="en-US" sz="2000"/>
              <a:t>• Built to work in real hardware mode and fallback demo mode</a:t>
            </a:r>
            <a:endParaRPr lang="en-US" sz="2000"/>
          </a:p>
        </p:txBody>
      </p:sp>
      <p:sp>
        <p:nvSpPr>
          <p:cNvPr id="7" name="Footer"/>
          <p:cNvSpPr txBox="1"/>
          <p:nvPr/>
        </p:nvSpPr>
        <p:spPr>
          <a:xfrm>
            <a:off x="685800" y="6172200"/>
            <a:ext cx="40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lvl="0"/>
            <a:r>
              <a:rPr lang="en-US" sz="1200"/>
              <a:t>Smart DJ Booth | Demo-Ready ESP32 Intelligence</a:t>
            </a:r>
            <a:endParaRPr lang="en-US"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he Probl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A"/>
          </a:solidFill>
          <a:ln>
            <a:noFill/>
          </a:ln>
        </p:spPr>
      </p:sp>
      <p:sp>
        <p:nvSpPr>
          <p:cNvPr id="3" name="Accent Bar"/>
          <p:cNvSpPr/>
          <p:nvPr/>
        </p:nvSpPr>
        <p:spPr>
          <a:xfrm>
            <a:off x="685800" y="609600"/>
            <a:ext cx="9144000" cy="228600"/>
          </a:xfrm>
          <a:prstGeom prst="rect">
            <a:avLst/>
          </a:prstGeom>
          <a:solidFill>
            <a:srgbClr val="C77D00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685800" y="1143000"/>
            <a:ext cx="10668000" cy="8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lvl="0"/>
            <a:r>
              <a:rPr lang="en-US" sz="3000" b="1"/>
              <a:t>The Problem</a:t>
            </a:r>
            <a:endParaRPr lang="en-US" sz="3000"/>
          </a:p>
        </p:txBody>
      </p:sp>
      <p:sp>
        <p:nvSpPr>
          <p:cNvPr id="5" name="Subtitle"/>
          <p:cNvSpPr txBox="1"/>
          <p:nvPr/>
        </p:nvSpPr>
        <p:spPr>
          <a:xfrm>
            <a:off x="685800" y="1905000"/>
            <a:ext cx="10668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lvl="0"/>
            <a:r>
              <a:rPr lang="en-US" sz="1800"/>
              <a:t>DJs usually react to the room by instinct alone</a:t>
            </a:r>
            <a:endParaRPr lang="en-US" sz="1800"/>
          </a:p>
        </p:txBody>
      </p:sp>
      <p:sp>
        <p:nvSpPr>
          <p:cNvPr id="6" name="Body"/>
          <p:cNvSpPr txBox="1"/>
          <p:nvPr/>
        </p:nvSpPr>
        <p:spPr>
          <a:xfrm>
            <a:off x="914400" y="2667000"/>
            <a:ext cx="10058400" cy="274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lvl="0"/>
            <a:r>
              <a:rPr lang="en-US" sz="2000"/>
              <a:t>• No simple live system tells the DJ whether the crowd is building, hyped, fading, or too loud</a:t>
            </a:r>
            <a:endParaRPr lang="en-US" sz="2000"/>
          </a:p>
          <a:p>
            <a:pPr lvl="0"/>
            <a:r>
              <a:rPr lang="en-US" sz="2000"/>
              <a:t>• That creates missed moments, delayed adjustments, and weaker audience engagement</a:t>
            </a:r>
            <a:endParaRPr lang="en-US" sz="2000"/>
          </a:p>
          <a:p>
            <a:pPr lvl="0"/>
            <a:r>
              <a:rPr lang="en-US" sz="2000"/>
              <a:t>• Smart DJ Booth turns crowd conditions into clear real-time booth feedback</a:t>
            </a:r>
            <a:endParaRPr lang="en-US" sz="2000"/>
          </a:p>
        </p:txBody>
      </p:sp>
      <p:sp>
        <p:nvSpPr>
          <p:cNvPr id="7" name="Footer"/>
          <p:cNvSpPr txBox="1"/>
          <p:nvPr/>
        </p:nvSpPr>
        <p:spPr>
          <a:xfrm>
            <a:off x="685800" y="6172200"/>
            <a:ext cx="40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lvl="0"/>
            <a:r>
              <a:rPr lang="en-US" sz="1200"/>
              <a:t>Smart DJ Booth | Demo-Ready ESP32 Intelligence</a:t>
            </a:r>
            <a:endParaRPr lang="en-US" sz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he Solu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A"/>
          </a:solidFill>
          <a:ln>
            <a:noFill/>
          </a:ln>
        </p:spPr>
      </p:sp>
      <p:sp>
        <p:nvSpPr>
          <p:cNvPr id="3" name="Accent Bar"/>
          <p:cNvSpPr/>
          <p:nvPr/>
        </p:nvSpPr>
        <p:spPr>
          <a:xfrm>
            <a:off x="685800" y="609600"/>
            <a:ext cx="9144000" cy="228600"/>
          </a:xfrm>
          <a:prstGeom prst="rect">
            <a:avLst/>
          </a:prstGeom>
          <a:solidFill>
            <a:srgbClr val="2B7A78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685800" y="1143000"/>
            <a:ext cx="10668000" cy="8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lvl="0"/>
            <a:r>
              <a:rPr lang="en-US" sz="3000" b="1"/>
              <a:t>The Solution</a:t>
            </a:r>
            <a:endParaRPr lang="en-US" sz="3000"/>
          </a:p>
        </p:txBody>
      </p:sp>
      <p:sp>
        <p:nvSpPr>
          <p:cNvPr id="5" name="Subtitle"/>
          <p:cNvSpPr txBox="1"/>
          <p:nvPr/>
        </p:nvSpPr>
        <p:spPr>
          <a:xfrm>
            <a:off x="685800" y="1905000"/>
            <a:ext cx="10668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lvl="0"/>
            <a:r>
              <a:rPr lang="en-US" sz="1800"/>
              <a:t>A compact ESP32-based sensing engine for booth intelligence</a:t>
            </a:r>
            <a:endParaRPr lang="en-US" sz="1800"/>
          </a:p>
        </p:txBody>
      </p:sp>
      <p:sp>
        <p:nvSpPr>
          <p:cNvPr id="6" name="Body"/>
          <p:cNvSpPr txBox="1"/>
          <p:nvPr/>
        </p:nvSpPr>
        <p:spPr>
          <a:xfrm>
            <a:off x="914400" y="2667000"/>
            <a:ext cx="10058400" cy="274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lvl="0"/>
            <a:r>
              <a:rPr lang="en-US" sz="2000"/>
              <a:t>• VL53L0X estimates crowd density from distance to the booth</a:t>
            </a:r>
            <a:endParaRPr lang="en-US" sz="2000"/>
          </a:p>
          <a:p>
            <a:pPr lvl="0"/>
            <a:r>
              <a:rPr lang="en-US" sz="2000"/>
              <a:t>• INMP441 captures room energy from sound intensity</a:t>
            </a:r>
            <a:endParaRPr lang="en-US" sz="2000"/>
          </a:p>
          <a:p>
            <a:pPr lvl="0"/>
            <a:r>
              <a:rPr lang="en-US" sz="2000"/>
              <a:t>• ESP32 processes both signals into simple states: LOW, GOOD, HYPE, TOO LOUD</a:t>
            </a:r>
            <a:endParaRPr lang="en-US" sz="2000"/>
          </a:p>
          <a:p>
            <a:pPr lvl="0"/>
            <a:r>
              <a:rPr lang="en-US" sz="2000"/>
              <a:t>• Output is designed for serial monitoring today and dashboard integration later</a:t>
            </a:r>
            <a:endParaRPr lang="en-US" sz="2000"/>
          </a:p>
        </p:txBody>
      </p:sp>
      <p:sp>
        <p:nvSpPr>
          <p:cNvPr id="7" name="Footer"/>
          <p:cNvSpPr txBox="1"/>
          <p:nvPr/>
        </p:nvSpPr>
        <p:spPr>
          <a:xfrm>
            <a:off x="685800" y="6172200"/>
            <a:ext cx="40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lvl="0"/>
            <a:r>
              <a:rPr lang="en-US" sz="1200"/>
              <a:t>Smart DJ Booth | Demo-Ready ESP32 Intelligence</a:t>
            </a:r>
            <a:endParaRPr lang="en-US" sz="1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ystem Archite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A"/>
          </a:solidFill>
          <a:ln>
            <a:noFill/>
          </a:ln>
        </p:spPr>
      </p:sp>
      <p:sp>
        <p:nvSpPr>
          <p:cNvPr id="3" name="Accent Bar"/>
          <p:cNvSpPr/>
          <p:nvPr/>
        </p:nvSpPr>
        <p:spPr>
          <a:xfrm>
            <a:off x="685800" y="609600"/>
            <a:ext cx="9144000" cy="228600"/>
          </a:xfrm>
          <a:prstGeom prst="rect">
            <a:avLst/>
          </a:prstGeom>
          <a:solidFill>
            <a:srgbClr val="2155A5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685800" y="1143000"/>
            <a:ext cx="10668000" cy="8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lvl="0"/>
            <a:r>
              <a:rPr lang="en-US" sz="3000" b="1"/>
              <a:t>System Architecture</a:t>
            </a:r>
            <a:endParaRPr lang="en-US" sz="3000"/>
          </a:p>
        </p:txBody>
      </p:sp>
      <p:sp>
        <p:nvSpPr>
          <p:cNvPr id="5" name="Subtitle"/>
          <p:cNvSpPr txBox="1"/>
          <p:nvPr/>
        </p:nvSpPr>
        <p:spPr>
          <a:xfrm>
            <a:off x="685800" y="1905000"/>
            <a:ext cx="10668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lvl="0"/>
            <a:r>
              <a:rPr lang="en-US" sz="1800"/>
              <a:t>Simple hardware, clear logic, strong demo story</a:t>
            </a:r>
            <a:endParaRPr lang="en-US" sz="1800"/>
          </a:p>
        </p:txBody>
      </p:sp>
      <p:sp>
        <p:nvSpPr>
          <p:cNvPr id="6" name="Body"/>
          <p:cNvSpPr txBox="1"/>
          <p:nvPr/>
        </p:nvSpPr>
        <p:spPr>
          <a:xfrm>
            <a:off x="914400" y="2667000"/>
            <a:ext cx="10058400" cy="274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lvl="0"/>
            <a:r>
              <a:rPr lang="en-US" sz="2000"/>
              <a:t>• Sensors -&gt; ESP32 -&gt; smoothing + decision engine -&gt; serial output</a:t>
            </a:r>
            <a:endParaRPr lang="en-US" sz="2000"/>
          </a:p>
          <a:p>
            <a:pPr lvl="0"/>
            <a:r>
              <a:rPr lang="en-US" sz="2000"/>
              <a:t>• Density is derived from measured distance</a:t>
            </a:r>
            <a:endParaRPr lang="en-US" sz="2000"/>
          </a:p>
          <a:p>
            <a:pPr lvl="0"/>
            <a:r>
              <a:rPr lang="en-US" sz="2000"/>
              <a:t>• Energy is derived from processed microphone amplitude</a:t>
            </a:r>
            <a:endParaRPr lang="en-US" sz="2000"/>
          </a:p>
          <a:p>
            <a:pPr lvl="0"/>
            <a:r>
              <a:rPr lang="en-US" sz="2000"/>
              <a:t>• The same output contract supports both real hardware and simulation mode</a:t>
            </a:r>
            <a:endParaRPr lang="en-US" sz="2000"/>
          </a:p>
        </p:txBody>
      </p:sp>
      <p:sp>
        <p:nvSpPr>
          <p:cNvPr id="7" name="Footer"/>
          <p:cNvSpPr txBox="1"/>
          <p:nvPr/>
        </p:nvSpPr>
        <p:spPr>
          <a:xfrm>
            <a:off x="685800" y="6172200"/>
            <a:ext cx="40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lvl="0"/>
            <a:r>
              <a:rPr lang="en-US" sz="1200"/>
              <a:t>Smart DJ Booth | Demo-Ready ESP32 Intelligence</a:t>
            </a:r>
            <a:endParaRPr lang="en-US" sz="1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hy Demo Mode Mat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A"/>
          </a:solidFill>
          <a:ln>
            <a:noFill/>
          </a:ln>
        </p:spPr>
      </p:sp>
      <p:sp>
        <p:nvSpPr>
          <p:cNvPr id="3" name="Accent Bar"/>
          <p:cNvSpPr/>
          <p:nvPr/>
        </p:nvSpPr>
        <p:spPr>
          <a:xfrm>
            <a:off x="685800" y="609600"/>
            <a:ext cx="9144000" cy="228600"/>
          </a:xfrm>
          <a:prstGeom prst="rect">
            <a:avLst/>
          </a:prstGeom>
          <a:solidFill>
            <a:srgbClr val="7A3DB8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685800" y="1143000"/>
            <a:ext cx="10668000" cy="8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lvl="0"/>
            <a:r>
              <a:rPr lang="en-US" sz="3000" b="1"/>
              <a:t>Why Demo Mode Matters</a:t>
            </a:r>
            <a:endParaRPr lang="en-US" sz="3000"/>
          </a:p>
        </p:txBody>
      </p:sp>
      <p:sp>
        <p:nvSpPr>
          <p:cNvPr id="5" name="Subtitle"/>
          <p:cNvSpPr txBox="1"/>
          <p:nvPr/>
        </p:nvSpPr>
        <p:spPr>
          <a:xfrm>
            <a:off x="685800" y="1905000"/>
            <a:ext cx="10668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lvl="0"/>
            <a:r>
              <a:rPr lang="en-US" sz="1800"/>
              <a:t>The project stays presentation-ready even when hardware is unstable</a:t>
            </a:r>
            <a:endParaRPr lang="en-US" sz="1800"/>
          </a:p>
        </p:txBody>
      </p:sp>
      <p:sp>
        <p:nvSpPr>
          <p:cNvPr id="6" name="Body"/>
          <p:cNvSpPr txBox="1"/>
          <p:nvPr/>
        </p:nvSpPr>
        <p:spPr>
          <a:xfrm>
            <a:off x="914400" y="2667000"/>
            <a:ext cx="10058400" cy="274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lvl="0"/>
            <a:r>
              <a:rPr lang="en-US" sz="2000"/>
              <a:t>• Fallback mode keeps the full product story alive during hardware issues</a:t>
            </a:r>
            <a:endParaRPr lang="en-US" sz="2000"/>
          </a:p>
          <a:p>
            <a:pPr lvl="0"/>
            <a:r>
              <a:rPr lang="en-US" sz="2000"/>
              <a:t>• Five built-in scenarios simulate realistic booth conditions</a:t>
            </a:r>
            <a:endParaRPr lang="en-US" sz="2000"/>
          </a:p>
          <a:p>
            <a:pPr lvl="0"/>
            <a:r>
              <a:rPr lang="en-US" sz="2000"/>
              <a:t>• Warmup Room, Crowd Surge, Peak Hour, Too Loud Alert, Late Night Dip</a:t>
            </a:r>
            <a:endParaRPr lang="en-US" sz="2000"/>
          </a:p>
          <a:p>
            <a:pPr lvl="0"/>
            <a:r>
              <a:rPr lang="en-US" sz="2000"/>
              <a:t>• This protects demos, testing, and future dashboard development</a:t>
            </a:r>
            <a:endParaRPr lang="en-US" sz="2000"/>
          </a:p>
        </p:txBody>
      </p:sp>
      <p:sp>
        <p:nvSpPr>
          <p:cNvPr id="7" name="Footer"/>
          <p:cNvSpPr txBox="1"/>
          <p:nvPr/>
        </p:nvSpPr>
        <p:spPr>
          <a:xfrm>
            <a:off x="685800" y="6172200"/>
            <a:ext cx="40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lvl="0"/>
            <a:r>
              <a:rPr lang="en-US" sz="1200"/>
              <a:t>Smart DJ Booth | Demo-Ready ESP32 Intelligence</a:t>
            </a:r>
            <a:endParaRPr lang="en-US" sz="1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urrent Build Stat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A"/>
          </a:solidFill>
          <a:ln>
            <a:noFill/>
          </a:ln>
        </p:spPr>
      </p:sp>
      <p:sp>
        <p:nvSpPr>
          <p:cNvPr id="3" name="Accent Bar"/>
          <p:cNvSpPr/>
          <p:nvPr/>
        </p:nvSpPr>
        <p:spPr>
          <a:xfrm>
            <a:off x="685800" y="609600"/>
            <a:ext cx="9144000" cy="228600"/>
          </a:xfrm>
          <a:prstGeom prst="rect">
            <a:avLst/>
          </a:prstGeom>
          <a:solidFill>
            <a:srgbClr val="0D6E6E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685800" y="1143000"/>
            <a:ext cx="10668000" cy="8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lvl="0"/>
            <a:r>
              <a:rPr lang="en-US" sz="3000" b="1"/>
              <a:t>Current Build Status</a:t>
            </a:r>
            <a:endParaRPr lang="en-US" sz="3000"/>
          </a:p>
        </p:txBody>
      </p:sp>
      <p:sp>
        <p:nvSpPr>
          <p:cNvPr id="5" name="Subtitle"/>
          <p:cNvSpPr txBox="1"/>
          <p:nvPr/>
        </p:nvSpPr>
        <p:spPr>
          <a:xfrm>
            <a:off x="685800" y="1905000"/>
            <a:ext cx="10668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lvl="0"/>
            <a:r>
              <a:rPr lang="en-US" sz="1800"/>
              <a:t>A working backend path exists today</a:t>
            </a:r>
            <a:endParaRPr lang="en-US" sz="1800"/>
          </a:p>
        </p:txBody>
      </p:sp>
      <p:sp>
        <p:nvSpPr>
          <p:cNvPr id="6" name="Body"/>
          <p:cNvSpPr txBox="1"/>
          <p:nvPr/>
        </p:nvSpPr>
        <p:spPr>
          <a:xfrm>
            <a:off x="914400" y="2667000"/>
            <a:ext cx="10058400" cy="274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lvl="0"/>
            <a:r>
              <a:rPr lang="en-US" sz="2000"/>
              <a:t>• Integrated ESP32 firmware is ready in Arduino IDE and VS Code workflows</a:t>
            </a:r>
            <a:endParaRPr lang="en-US" sz="2000"/>
          </a:p>
          <a:p>
            <a:pPr lvl="0"/>
            <a:r>
              <a:rPr lang="en-US" sz="2000"/>
              <a:t>• Automatic and forced demo fallback are built into the main sketch</a:t>
            </a:r>
            <a:endParaRPr lang="en-US" sz="2000"/>
          </a:p>
          <a:p>
            <a:pPr lvl="0"/>
            <a:r>
              <a:rPr lang="en-US" sz="2000"/>
              <a:t>• Sensor test sketches are prepared for VL53L0X and INMP441 bring-up</a:t>
            </a:r>
            <a:endParaRPr lang="en-US" sz="2000"/>
          </a:p>
          <a:p>
            <a:pPr lvl="0"/>
            <a:r>
              <a:rPr lang="en-US" sz="2000"/>
              <a:t>• Structured output is ready for a dashboard phase when needed</a:t>
            </a:r>
            <a:endParaRPr lang="en-US" sz="2000"/>
          </a:p>
        </p:txBody>
      </p:sp>
      <p:sp>
        <p:nvSpPr>
          <p:cNvPr id="7" name="Footer"/>
          <p:cNvSpPr txBox="1"/>
          <p:nvPr/>
        </p:nvSpPr>
        <p:spPr>
          <a:xfrm>
            <a:off x="685800" y="6172200"/>
            <a:ext cx="40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lvl="0"/>
            <a:r>
              <a:rPr lang="en-US" sz="1200"/>
              <a:t>Smart DJ Booth | Demo-Ready ESP32 Intelligence</a:t>
            </a:r>
            <a:endParaRPr lang="en-US" sz="1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Next Ste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A"/>
          </a:solidFill>
          <a:ln>
            <a:noFill/>
          </a:ln>
        </p:spPr>
      </p:sp>
      <p:sp>
        <p:nvSpPr>
          <p:cNvPr id="3" name="Accent Bar"/>
          <p:cNvSpPr/>
          <p:nvPr/>
        </p:nvSpPr>
        <p:spPr>
          <a:xfrm>
            <a:off x="685800" y="609600"/>
            <a:ext cx="9144000" cy="228600"/>
          </a:xfrm>
          <a:prstGeom prst="rect">
            <a:avLst/>
          </a:prstGeom>
          <a:solidFill>
            <a:srgbClr val="8A3B12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685800" y="1143000"/>
            <a:ext cx="10668000" cy="8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lvl="0"/>
            <a:r>
              <a:rPr lang="en-US" sz="3000" b="1"/>
              <a:t>Next Steps</a:t>
            </a:r>
            <a:endParaRPr lang="en-US" sz="3000"/>
          </a:p>
        </p:txBody>
      </p:sp>
      <p:sp>
        <p:nvSpPr>
          <p:cNvPr id="5" name="Subtitle"/>
          <p:cNvSpPr txBox="1"/>
          <p:nvPr/>
        </p:nvSpPr>
        <p:spPr>
          <a:xfrm>
            <a:off x="685800" y="1905000"/>
            <a:ext cx="10668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lvl="0"/>
            <a:r>
              <a:rPr lang="en-US" sz="1800"/>
              <a:t>From stable demo to full live deployment</a:t>
            </a:r>
            <a:endParaRPr lang="en-US" sz="1800"/>
          </a:p>
        </p:txBody>
      </p:sp>
      <p:sp>
        <p:nvSpPr>
          <p:cNvPr id="6" name="Body"/>
          <p:cNvSpPr txBox="1"/>
          <p:nvPr/>
        </p:nvSpPr>
        <p:spPr>
          <a:xfrm>
            <a:off x="914400" y="2667000"/>
            <a:ext cx="10058400" cy="274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lvl="0"/>
            <a:r>
              <a:rPr lang="en-US" sz="2000"/>
              <a:t>• Fix board connectivity and validate both sensors independently</a:t>
            </a:r>
            <a:endParaRPr lang="en-US" sz="2000"/>
          </a:p>
          <a:p>
            <a:pPr lvl="0"/>
            <a:r>
              <a:rPr lang="en-US" sz="2000"/>
              <a:t>• Switch the integrated sketch from demo mode to live mode</a:t>
            </a:r>
            <a:endParaRPr lang="en-US" sz="2000"/>
          </a:p>
          <a:p>
            <a:pPr lvl="0"/>
            <a:r>
              <a:rPr lang="en-US" sz="2000"/>
              <a:t>• Tune thresholds in a real room environment</a:t>
            </a:r>
            <a:endParaRPr lang="en-US" sz="2000"/>
          </a:p>
          <a:p>
            <a:pPr lvl="0"/>
            <a:r>
              <a:rPr lang="en-US" sz="2000"/>
              <a:t>• Add a polished dashboard layer for client-facing visuals</a:t>
            </a:r>
            <a:endParaRPr lang="en-US" sz="2000"/>
          </a:p>
        </p:txBody>
      </p:sp>
      <p:sp>
        <p:nvSpPr>
          <p:cNvPr id="7" name="Footer"/>
          <p:cNvSpPr txBox="1"/>
          <p:nvPr/>
        </p:nvSpPr>
        <p:spPr>
          <a:xfrm>
            <a:off x="685800" y="6172200"/>
            <a:ext cx="40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lvl="0"/>
            <a:r>
              <a:rPr lang="en-US" sz="1200"/>
              <a:t>Smart DJ Booth | Demo-Ready ESP32 Intelligence</a:t>
            </a:r>
            <a:endParaRPr lang="en-US"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F1F1F"/>
      </a:dk1>
      <a:lt1>
        <a:srgbClr val="FFFFFF"/>
      </a:lt1>
      <a:dk2>
        <a:srgbClr val="1E3A5F"/>
      </a:dk2>
      <a:lt2>
        <a:srgbClr val="F7F2EA"/>
      </a:lt2>
      <a:accent1>
        <a:srgbClr val="D94F30"/>
      </a:accent1>
      <a:accent2>
        <a:srgbClr val="2B7A78"/>
      </a:accent2>
      <a:accent3>
        <a:srgbClr val="2155A5"/>
      </a:accent3>
      <a:accent4>
        <a:srgbClr val="C77D00"/>
      </a:accent4>
      <a:accent5>
        <a:srgbClr val="7A3DB8"/>
      </a:accent5>
      <a:accent6>
        <a:srgbClr val="0D6E6E"/>
      </a:accent6>
      <a:hlink>
        <a:srgbClr val="0563C1"/>
      </a:hlink>
      <a:folHlink>
        <a:srgbClr val="954F72"/>
      </a:folHlink>
    </a:clrScheme>
    <a:fontScheme name="Codex Them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100000">
              <a:schemeClr val="phClr">
                <a:tint val="37000"/>
                <a:satMod val="3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tint val="120000"/>
                <a:satMod val="120000"/>
                <a:shade val="63000"/>
                <a:lumMod val="105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7</Slides>
  <Notes>0</Notes>
  <HiddenSlides>0</HiddenSlides>
  <MMClips>0</MMClips>
  <ScaleCrop>false</ScaleCrop>
  <HeadingPairs>
    <vt:vector size="2" baseType="variant">
      <vt:variant>
        <vt:lpstr>Theme</vt:lpstr>
      </vt:variant>
      <vt:variant>
        <vt:i4>1</vt:i4>
      </vt:variant>
    </vt:vector>
  </HeadingPairs>
  <TitlesOfParts>
    <vt:vector size="1" baseType="lpstr">
      <vt:lpstr>Office Theme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DJ Booth Deck</dc:title>
  <dc:subject>Smart DJ Booth</dc:subject>
  <dc:creator>OpenAI Codex</dc:creator>
  <cp:keywords>ESP32, DJ, IoT, demo</cp:keywords>
  <dc:description>Client-facing overview for Smart DJ Booth.</dc:description>
  <cp:lastModifiedBy>OpenAI Codex</cp:lastModifiedBy>
  <dcterms:created xsi:type="dcterms:W3CDTF">2026-04-17T18:36:21+00:00</dcterms:created>
  <dcterms:modified xsi:type="dcterms:W3CDTF">2026-04-17T18:36:21+00:00</dcterms:modified>
</cp:coreProperties>
</file>